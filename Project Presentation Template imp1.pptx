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640" r:id="rId2"/>
    <p:sldId id="3694" r:id="rId3"/>
    <p:sldId id="3697" r:id="rId4"/>
    <p:sldId id="3701" r:id="rId5"/>
    <p:sldId id="3703" r:id="rId6"/>
    <p:sldId id="3702" r:id="rId7"/>
    <p:sldId id="3704" r:id="rId8"/>
    <p:sldId id="3705" r:id="rId9"/>
    <p:sldId id="3708" r:id="rId10"/>
    <p:sldId id="364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78" d="100"/>
          <a:sy n="78" d="100"/>
        </p:scale>
        <p:origin x="72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278" y="290513"/>
            <a:ext cx="1310484" cy="106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8265" y="4868603"/>
            <a:ext cx="5378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Roll number :102316118 Name :Vansh Rattan</a:t>
            </a:r>
          </a:p>
          <a:p>
            <a:r>
              <a:rPr lang="en-IN" dirty="0"/>
              <a:t>Roll number :102316123 Name :Aryan Sood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Faculty Name:</a:t>
            </a:r>
          </a:p>
          <a:p>
            <a:r>
              <a:rPr lang="en-IN" dirty="0" err="1"/>
              <a:t>Dr.</a:t>
            </a:r>
            <a:r>
              <a:rPr lang="en-IN" dirty="0"/>
              <a:t> Nitin Arora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BD4E1-64C4-938A-3E50-F150950C5221}"/>
              </a:ext>
            </a:extLst>
          </p:cNvPr>
          <p:cNvSpPr txBox="1"/>
          <p:nvPr/>
        </p:nvSpPr>
        <p:spPr>
          <a:xfrm>
            <a:off x="3137662" y="177007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solidFill>
                  <a:srgbClr val="0F172A"/>
                </a:solidFill>
                <a:effectLst/>
                <a:latin typeface="Roboto" panose="02000000000000000000" pitchFamily="2" charset="0"/>
              </a:rPr>
              <a:t>Heart Health Analysis</a:t>
            </a:r>
            <a:br>
              <a:rPr lang="en-US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Machine Learning Project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D063E0-F35B-7E7E-4AFF-A10A9093AE95}"/>
              </a:ext>
            </a:extLst>
          </p:cNvPr>
          <p:cNvSpPr txBox="1"/>
          <p:nvPr/>
        </p:nvSpPr>
        <p:spPr>
          <a:xfrm>
            <a:off x="412955" y="4249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333D7-A2AE-77D2-B700-7ADF5D7E82F0}"/>
              </a:ext>
            </a:extLst>
          </p:cNvPr>
          <p:cNvSpPr txBox="1"/>
          <p:nvPr/>
        </p:nvSpPr>
        <p:spPr>
          <a:xfrm>
            <a:off x="1209368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Working Model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7B56F1-AB4A-8F5E-7C10-7CEF218821D6}"/>
              </a:ext>
            </a:extLst>
          </p:cNvPr>
          <p:cNvSpPr txBox="1"/>
          <p:nvPr/>
        </p:nvSpPr>
        <p:spPr>
          <a:xfrm>
            <a:off x="521110" y="40274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C1D81-4481-22D0-C69B-FCA4314BB56C}"/>
              </a:ext>
            </a:extLst>
          </p:cNvPr>
          <p:cNvSpPr txBox="1"/>
          <p:nvPr/>
        </p:nvSpPr>
        <p:spPr>
          <a:xfrm>
            <a:off x="835742" y="132102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Technical Concepts:</a:t>
            </a:r>
            <a:r>
              <a:rPr lang="en-US" dirty="0"/>
              <a:t> Utilizing Supervised Machine Learning to classify patient risk factors using algorithms like Random Forest and Logistic Regression.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Motivation:</a:t>
            </a:r>
            <a:r>
              <a:rPr lang="en-US" dirty="0"/>
              <a:t> Cardiovascular diseases are the leading cause of death globally. Early detection can significantly reduce mortality.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Statement:</a:t>
            </a:r>
            <a:r>
              <a:rPr lang="en-US" dirty="0"/>
              <a:t> Traditional diagnosis is time-consuming. We aim to automate risk prediction based on physiological attributes.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Dataset Features:</a:t>
            </a:r>
            <a:r>
              <a:rPr lang="en-US" dirty="0"/>
              <a:t> Age, BMI, Glucose, Marital Status, Smoking, Gender, Hypertension, Heart Disease History, Residence.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FF0B5-9E75-87F2-5043-2BF01D28B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46" y="1289659"/>
            <a:ext cx="3864078" cy="45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 Objective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91FFD-AB62-CC7E-2864-02F88377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27" y="248626"/>
            <a:ext cx="10336383" cy="58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54A6D8-93F2-2391-01DF-45743B441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3" y="226677"/>
            <a:ext cx="10264610" cy="640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5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D746D-0673-EB33-0C90-08BC9A3B7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3" y="418416"/>
            <a:ext cx="10398671" cy="577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B2F2B4-22B5-7CF3-5CCE-FF975D571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092" y="2032000"/>
            <a:ext cx="5008879" cy="3218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BD8763-F04C-1CA6-1335-7898E1EB7072}"/>
              </a:ext>
            </a:extLst>
          </p:cNvPr>
          <p:cNvSpPr txBox="1"/>
          <p:nvPr/>
        </p:nvSpPr>
        <p:spPr>
          <a:xfrm>
            <a:off x="462116" y="3462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D1864-1049-C3A2-1036-828B044F8441}"/>
              </a:ext>
            </a:extLst>
          </p:cNvPr>
          <p:cNvSpPr txBox="1"/>
          <p:nvPr/>
        </p:nvSpPr>
        <p:spPr>
          <a:xfrm>
            <a:off x="422787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 Cases &amp; Confusion Matrix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Test Case 1:</a:t>
            </a:r>
          </a:p>
          <a:p>
            <a:pPr>
              <a:buNone/>
            </a:pPr>
            <a:r>
              <a:rPr lang="en-US" b="1" dirty="0"/>
              <a:t>Male, 55, Smoker, High Glucose → Predicted: High Risk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Test Case 2:</a:t>
            </a:r>
          </a:p>
          <a:p>
            <a:pPr>
              <a:buNone/>
            </a:pPr>
            <a:r>
              <a:rPr lang="en-US" b="1" dirty="0"/>
              <a:t>Female, 30, Non-smoker, Normal BMI → Predicted: Low Risk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The heatmap (right) visualizes the model’s performance.</a:t>
            </a:r>
            <a:br>
              <a:rPr lang="en-US" dirty="0"/>
            </a:br>
            <a:r>
              <a:rPr lang="en-US" dirty="0"/>
              <a:t>High diagonal values indicate </a:t>
            </a:r>
            <a:r>
              <a:rPr lang="en-US" b="1" dirty="0"/>
              <a:t>correct predictions</a:t>
            </a:r>
            <a:r>
              <a:rPr lang="en-US" dirty="0"/>
              <a:t> for both </a:t>
            </a:r>
            <a:r>
              <a:rPr lang="en-US" b="1" dirty="0"/>
              <a:t>‘Disease’</a:t>
            </a:r>
            <a:r>
              <a:rPr lang="en-US" dirty="0"/>
              <a:t> and </a:t>
            </a:r>
            <a:r>
              <a:rPr lang="en-US" b="1" dirty="0"/>
              <a:t>‘No Disease’</a:t>
            </a:r>
            <a:r>
              <a:rPr lang="en-US" dirty="0"/>
              <a:t> classes.</a:t>
            </a:r>
          </a:p>
        </p:txBody>
      </p:sp>
    </p:spTree>
    <p:extLst>
      <p:ext uri="{BB962C8B-B14F-4D97-AF65-F5344CB8AC3E}">
        <p14:creationId xmlns:p14="http://schemas.microsoft.com/office/powerpoint/2010/main" val="274358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E3F6F3-8F2D-CABA-3D34-55E5AE3E3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2" y="3604505"/>
            <a:ext cx="7711440" cy="3132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C59242-FA43-1C6F-4E6B-5BBA8484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26" y="304364"/>
            <a:ext cx="7841226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1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8440" y="420435"/>
            <a:ext cx="2393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C1A624-74A8-50EA-19B2-25AC3C09FCDE}"/>
              </a:ext>
            </a:extLst>
          </p:cNvPr>
          <p:cNvSpPr txBox="1"/>
          <p:nvPr/>
        </p:nvSpPr>
        <p:spPr>
          <a:xfrm>
            <a:off x="468440" y="1174576"/>
            <a:ext cx="100297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1600" dirty="0"/>
              <a:t>The graphs are made with the help of our dataset and graph tools.</a:t>
            </a:r>
          </a:p>
          <a:p>
            <a:pPr marL="342900" indent="-342900">
              <a:buAutoNum type="arabicPeriod"/>
            </a:pPr>
            <a:r>
              <a:rPr lang="en-US" sz="1600" dirty="0"/>
              <a:t>Stroke Prediction Dataset (Kaggle): https://www.kaggle.com/datasets/fedesoriano/stroke- </a:t>
            </a:r>
            <a:r>
              <a:rPr lang="en-US" sz="1600" dirty="0" err="1"/>
              <a:t>Referencesprediction</a:t>
            </a:r>
            <a:r>
              <a:rPr lang="en-US" sz="1600" dirty="0"/>
              <a:t>-dataset</a:t>
            </a:r>
          </a:p>
          <a:p>
            <a:pPr marL="342900" indent="-342900">
              <a:buAutoNum type="arabicPeriod"/>
            </a:pPr>
            <a:r>
              <a:rPr lang="en-US" sz="1600" dirty="0"/>
              <a:t> Scikit-Learn – Machine Learning Libraryhttps://scikit-learn.org/stable/</a:t>
            </a:r>
          </a:p>
          <a:p>
            <a:pPr marL="342900" indent="-342900">
              <a:buAutoNum type="arabicPeriod"/>
            </a:pPr>
            <a:r>
              <a:rPr lang="en-US" sz="1600" dirty="0"/>
              <a:t> Flask – Python Backend Microframeworkhttps://flask.palletsprojects.</a:t>
            </a:r>
            <a:r>
              <a:rPr lang="en-US" sz="1600"/>
              <a:t>com/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3762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998325" y="3001331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0"/>
            <a:ext cx="1381246" cy="140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137" y="1067756"/>
            <a:ext cx="23717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12932</TotalTime>
  <Words>266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Vansh Rattan</cp:lastModifiedBy>
  <cp:revision>583</cp:revision>
  <dcterms:created xsi:type="dcterms:W3CDTF">2021-05-06T09:42:21Z</dcterms:created>
  <dcterms:modified xsi:type="dcterms:W3CDTF">2025-12-02T09:26:08Z</dcterms:modified>
</cp:coreProperties>
</file>